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Cap Table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A1A3A"/>
              </a:solidFill>
              <a:effectLst/>
            </c:spPr>
          </c:dPt>
          <c:dPt>
            <c:idx val="1"/>
            <c:bubble3D val="0"/>
            <c:spPr>
              <a:solidFill>
                <a:srgbClr val="0F766E"/>
              </a:solidFill>
              <a:effectLst/>
            </c:spPr>
          </c:dPt>
          <c:dPt>
            <c:idx val="2"/>
            <c:bubble3D val="0"/>
            <c:spPr>
              <a:solidFill>
                <a:srgbClr val="C9A961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2"/>
              <c:numFmt formatCode="General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Sheet1!$A$2:$A$4</c:f>
              <c:strCache>
                <c:ptCount val="3"/>
                <c:pt idx="0">
                  <c:v>Rafael Dias (Fundador)</c:v>
                </c:pt>
                <c:pt idx="1">
                  <c:v>Laura Dias (Cofundadora)</c:v>
                </c:pt>
                <c:pt idx="2">
                  <c:v>Grupo Gradual (Investidor)</c:v>
                </c:pt>
              </c:strCache>
            </c:strRef>
          </c:cat>
          <c:val>
            <c:numRef>
              <c:f>Sheet1!$B$2:$B$4</c:f>
              <c:numCache>
                <c:ptCount val="3"/>
                <c:pt idx="0">
                  <c:v>73</c:v>
                </c:pt>
                <c:pt idx="1">
                  <c:v>22</c:v>
                </c:pt>
                <c:pt idx="2">
                  <c:v>5</c:v>
                </c:pt>
              </c:numCache>
            </c:numRef>
          </c:val>
        </c:ser>
        <c:firstSliceAng val="0"/>
        <c:holeSize val="62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97135" y="0"/>
            <a:ext cx="219456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118543" y="0"/>
            <a:ext cx="73152" cy="21945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784848"/>
            <a:ext cx="2194560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0" y="4663440"/>
            <a:ext cx="73152" cy="21945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ESTRATÉGICO  ·  CONFIDENCIAL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40080" y="960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 C M  ·  L A V I T A   C O D 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1097280" cy="36576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1783080"/>
            <a:ext cx="105156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janela mais curta</a:t>
            </a:r>
            <a:endParaRPr lang="en-US" sz="5600" dirty="0"/>
          </a:p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mercado clínico</a:t>
            </a:r>
            <a:endParaRPr lang="en-US" sz="5600" dirty="0"/>
          </a:p>
          <a:p>
            <a:pPr indent="0" marL="0">
              <a:buNone/>
            </a:pPr>
            <a:r>
              <a:rPr lang="en-US" sz="56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digital brasileiro.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R$ 75.000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do BCM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tranches com gatilhos reais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0080" y="53492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Apresentado 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" y="562356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Grupo Gradual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640080" y="6080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Dra. Leila Bagaiolo  ·  Dra. Claudia Romano Pacifico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265615" y="53492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VALIDADE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9265615" y="562356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dias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265615" y="6080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22 de maio de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1188720"/>
            <a:ext cx="10972800" cy="365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Grupo Gradual não está sendo convidado a </a:t>
            </a:r>
            <a:pPr indent="0" marL="0">
              <a:lnSpc>
                <a:spcPct val="125000"/>
              </a:lnSpc>
              <a:buNone/>
            </a:pPr>
            <a:r>
              <a:rPr lang="en-US" sz="28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investir em uma startup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.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Está sendo convidado a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comprar a primeira posição</a:t>
            </a:r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na fundação do padrão clínico digital ABA do Brasil —</a:t>
            </a:r>
            <a:endParaRPr lang="en-US" sz="28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2800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 </a:t>
            </a:r>
            <a:pPr indent="0" marL="0">
              <a:lnSpc>
                <a:spcPct val="125000"/>
              </a:lnSpc>
              <a:buNone/>
            </a:pPr>
            <a:r>
              <a:rPr lang="en-US" sz="2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retorno operacional já no mês 1.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5212080"/>
            <a:ext cx="3520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5212080"/>
            <a:ext cx="35204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5349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 do BCM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5852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em ativo funcional, já em produção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343400" y="5212080"/>
            <a:ext cx="3520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343400" y="5212080"/>
            <a:ext cx="35204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0" y="5349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 off em software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72000" y="5852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recorrente que paga o cheque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46720" y="5212080"/>
            <a:ext cx="352044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0" y="5212080"/>
            <a:ext cx="35204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53492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Posição estratégica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275320" y="585216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da rodada, antes do padrão se fixar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RESUMO EXECUTIVO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Tudo o que importa, em um cartão.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Seis razões pelas quais a decisão se sustenta sozinha — antes mesmo da apresentação completa.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057400"/>
            <a:ext cx="73152" cy="2103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ATIVO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914400" y="2606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Plataforma pronta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3200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Avaliação, PEI, CAA, jogos, telemetria, Visão 360. Em produção, não em slides.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389120" y="20574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2057400"/>
            <a:ext cx="73152" cy="21031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CHEQUE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663440" y="2606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R$ 75.000 em 3 etapas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4663440" y="3200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Apenas R$30K na assinatura. R$25K e R$20K só com prova de mercado.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138160" y="205740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38160" y="2057400"/>
            <a:ext cx="73152" cy="2103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412480" y="228600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ESCUDO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8412480" y="260604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Risco assimétrico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8412480" y="320040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2 e 3 dependem de usuários pagantes ativos. Sem prova, sem cheque.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" y="429768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4297680"/>
            <a:ext cx="73152" cy="210312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4526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RETORNO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1440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Já se paga em 2-3 anos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914400" y="54406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off em software + 30% off no Plano Clínica. Retorno antes do BCM escalar.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389120" y="429768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389120" y="4297680"/>
            <a:ext cx="73152" cy="210312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663440" y="4526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POSIÇÃO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66344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Investidor-âncora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4663440" y="54406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Coautoria científica, voto técnico-clínico e acesso à narrativa de mercado.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138160" y="4297680"/>
            <a:ext cx="3611880" cy="2103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8138160" y="4297680"/>
            <a:ext cx="73152" cy="2103120"/>
          </a:xfrm>
          <a:prstGeom prst="rect">
            <a:avLst/>
          </a:prstGeom>
          <a:solidFill>
            <a:srgbClr val="B91C3C"/>
          </a:solidFill>
          <a:ln w="12700">
            <a:solidFill>
              <a:srgbClr val="B91C3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8412480" y="452628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9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8412480" y="4846320"/>
            <a:ext cx="3154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 dias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8412480" y="5440680"/>
            <a:ext cx="3154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primeira parceria clínica define autoria, dados e narrativa do setor.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QUE AGORA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pressão regulatória já chegou.
</a:t>
            </a:r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mercado ainda não tem um padrão.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09448" y="2468880"/>
            <a:ext cx="2606040" cy="1554480"/>
          </a:xfrm>
          <a:prstGeom prst="rect">
            <a:avLst/>
          </a:prstGeom>
          <a:solidFill>
            <a:srgbClr val="15264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92328" y="2651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918K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792328" y="3429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com TEA no Brasil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92328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INEP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398368" y="2468880"/>
            <a:ext cx="2606040" cy="1554480"/>
          </a:xfrm>
          <a:prstGeom prst="rect">
            <a:avLst/>
          </a:prstGeom>
          <a:solidFill>
            <a:srgbClr val="15264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1248" y="2651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+44%</a:t>
            </a:r>
            <a:endParaRPr lang="en-US" sz="4400" dirty="0"/>
          </a:p>
        </p:txBody>
      </p:sp>
      <p:sp>
        <p:nvSpPr>
          <p:cNvPr id="10" name="Text 8"/>
          <p:cNvSpPr/>
          <p:nvPr/>
        </p:nvSpPr>
        <p:spPr>
          <a:xfrm>
            <a:off x="3581248" y="3429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crescimento de diagnósticos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581248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1 ano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87288" y="2468880"/>
            <a:ext cx="2606040" cy="1554480"/>
          </a:xfrm>
          <a:prstGeom prst="rect">
            <a:avLst/>
          </a:prstGeom>
          <a:solidFill>
            <a:srgbClr val="15264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0168" y="2651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94,2%</a:t>
            </a:r>
            <a:endParaRPr lang="en-US" sz="4400" dirty="0"/>
          </a:p>
        </p:txBody>
      </p:sp>
      <p:sp>
        <p:nvSpPr>
          <p:cNvPr id="14" name="Text 12"/>
          <p:cNvSpPr/>
          <p:nvPr/>
        </p:nvSpPr>
        <p:spPr>
          <a:xfrm>
            <a:off x="6370168" y="3429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professores sem formação ABA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370168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estrutural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976208" y="2468880"/>
            <a:ext cx="2606040" cy="1554480"/>
          </a:xfrm>
          <a:prstGeom prst="rect">
            <a:avLst/>
          </a:prstGeom>
          <a:solidFill>
            <a:srgbClr val="15264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59088" y="2651760"/>
            <a:ext cx="2240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R$ 320K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9159088" y="34290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médio de litígio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159088" y="3703320"/>
            <a:ext cx="2240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não conformidade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40080" y="4434840"/>
            <a:ext cx="5440680" cy="1828800"/>
          </a:xfrm>
          <a:prstGeom prst="rect">
            <a:avLst/>
          </a:prstGeom>
          <a:solidFill>
            <a:srgbClr val="152648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GATILHO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4937760"/>
            <a:ext cx="5029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obrigatório nas escolas.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Planos exigem documentação clínica defensável.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Clínicas precisam provar evolução, não apenas registrar sessão.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263640" y="4434840"/>
            <a:ext cx="5285232" cy="1828800"/>
          </a:xfrm>
          <a:prstGeom prst="rect">
            <a:avLst/>
          </a:prstGeom>
          <a:solidFill>
            <a:srgbClr val="152648"/>
          </a:solidFill>
          <a:ln w="12700">
            <a:solidFill>
              <a:srgbClr val="B91C3C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461772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B9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CUSTO DE ESPERAR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4937760"/>
            <a:ext cx="49377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grupo clínico ocupa a posição estratégica.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protocolo vira o primeiro nativo do marketplace.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janela de entrada vira janela de cliente comum.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O BCM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Não é prontuário. Não é app de jogos.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173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um sistema clínico onde cada módulo alimenta o próximo.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394564" y="2468880"/>
            <a:ext cx="2148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94564" y="2468880"/>
            <a:ext cx="21488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3164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623164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 clínica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23164" y="3794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protocolos default + protocolos do parceiro</a:t>
            </a:r>
            <a:endParaRPr lang="en-US" sz="1100" dirty="0"/>
          </a:p>
        </p:txBody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552548" y="3429000"/>
            <a:ext cx="146304" cy="146304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07996" y="2468880"/>
            <a:ext cx="2148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2707996" y="2468880"/>
            <a:ext cx="21488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2936596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4" name="Text 11"/>
          <p:cNvSpPr/>
          <p:nvPr/>
        </p:nvSpPr>
        <p:spPr>
          <a:xfrm>
            <a:off x="2936596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de decisão</a:t>
            </a:r>
            <a:endParaRPr lang="en-US" sz="1400" dirty="0"/>
          </a:p>
        </p:txBody>
      </p:sp>
      <p:sp>
        <p:nvSpPr>
          <p:cNvPr id="15" name="Text 12"/>
          <p:cNvSpPr/>
          <p:nvPr/>
        </p:nvSpPr>
        <p:spPr>
          <a:xfrm>
            <a:off x="2936596" y="3794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dados, deriva metas, aciona módulos</a:t>
            </a:r>
            <a:endParaRPr lang="en-US" sz="1100" dirty="0"/>
          </a:p>
        </p:txBody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5980" y="3429000"/>
            <a:ext cx="146304" cy="146304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021428" y="2468880"/>
            <a:ext cx="2148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5021428" y="2468880"/>
            <a:ext cx="21488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9" name="Text 15"/>
          <p:cNvSpPr/>
          <p:nvPr/>
        </p:nvSpPr>
        <p:spPr>
          <a:xfrm>
            <a:off x="5250028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6"/>
          <p:cNvSpPr/>
          <p:nvPr/>
        </p:nvSpPr>
        <p:spPr>
          <a:xfrm>
            <a:off x="5250028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automático</a:t>
            </a:r>
            <a:endParaRPr lang="en-US" sz="1400" dirty="0"/>
          </a:p>
        </p:txBody>
      </p:sp>
      <p:sp>
        <p:nvSpPr>
          <p:cNvPr id="21" name="Text 17"/>
          <p:cNvSpPr/>
          <p:nvPr/>
        </p:nvSpPr>
        <p:spPr>
          <a:xfrm>
            <a:off x="5250028" y="3794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 · baselines · SMART · PDF defensável</a:t>
            </a:r>
            <a:endParaRPr lang="en-US" sz="1100" dirty="0"/>
          </a:p>
        </p:txBody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9412" y="3429000"/>
            <a:ext cx="146304" cy="146304"/>
          </a:xfrm>
          <a:prstGeom prst="rect">
            <a:avLst/>
          </a:prstGeom>
        </p:spPr>
      </p:pic>
      <p:sp>
        <p:nvSpPr>
          <p:cNvPr id="23" name="Shape 18"/>
          <p:cNvSpPr/>
          <p:nvPr/>
        </p:nvSpPr>
        <p:spPr>
          <a:xfrm>
            <a:off x="7334860" y="2468880"/>
            <a:ext cx="2148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34860" y="2468880"/>
            <a:ext cx="21488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7563460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6" name="Text 21"/>
          <p:cNvSpPr/>
          <p:nvPr/>
        </p:nvSpPr>
        <p:spPr>
          <a:xfrm>
            <a:off x="7563460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Intervenção ativa</a:t>
            </a:r>
            <a:endParaRPr lang="en-US" sz="1400" dirty="0"/>
          </a:p>
        </p:txBody>
      </p:sp>
      <p:sp>
        <p:nvSpPr>
          <p:cNvPr id="27" name="Text 22"/>
          <p:cNvSpPr/>
          <p:nvPr/>
        </p:nvSpPr>
        <p:spPr>
          <a:xfrm>
            <a:off x="7563460" y="3794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Jogos · rotinas · CAA · FCT · VB-MAPP</a:t>
            </a:r>
            <a:endParaRPr lang="en-US" sz="1100" dirty="0"/>
          </a:p>
        </p:txBody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92844" y="3429000"/>
            <a:ext cx="146304" cy="146304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9648292" y="2468880"/>
            <a:ext cx="214884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9648292" y="2468880"/>
            <a:ext cx="21488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1" name="Text 25"/>
          <p:cNvSpPr/>
          <p:nvPr/>
        </p:nvSpPr>
        <p:spPr>
          <a:xfrm>
            <a:off x="9876892" y="26974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3200" dirty="0"/>
          </a:p>
        </p:txBody>
      </p:sp>
      <p:sp>
        <p:nvSpPr>
          <p:cNvPr id="32" name="Text 26"/>
          <p:cNvSpPr/>
          <p:nvPr/>
        </p:nvSpPr>
        <p:spPr>
          <a:xfrm>
            <a:off x="9876892" y="333756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Evidência contínua</a:t>
            </a:r>
            <a:endParaRPr lang="en-US" sz="1400" dirty="0"/>
          </a:p>
        </p:txBody>
      </p:sp>
      <p:sp>
        <p:nvSpPr>
          <p:cNvPr id="33" name="Text 27"/>
          <p:cNvSpPr/>
          <p:nvPr/>
        </p:nvSpPr>
        <p:spPr>
          <a:xfrm>
            <a:off x="9876892" y="3794760"/>
            <a:ext cx="1691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Telemetria · ANS · escola · família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472288" y="4937760"/>
            <a:ext cx="3657600" cy="1371600"/>
          </a:xfrm>
          <a:prstGeom prst="rect">
            <a:avLst/>
          </a:prstGeom>
          <a:solidFill>
            <a:srgbClr val="064E47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655168" y="50749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5600" dirty="0"/>
          </a:p>
        </p:txBody>
      </p:sp>
      <p:sp>
        <p:nvSpPr>
          <p:cNvPr id="36" name="Text 30"/>
          <p:cNvSpPr/>
          <p:nvPr/>
        </p:nvSpPr>
        <p:spPr>
          <a:xfrm>
            <a:off x="2255368" y="5212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ambiente único</a:t>
            </a:r>
            <a:endParaRPr lang="en-US" sz="1600" dirty="0"/>
          </a:p>
        </p:txBody>
      </p:sp>
      <p:sp>
        <p:nvSpPr>
          <p:cNvPr id="37" name="Text 31"/>
          <p:cNvSpPr/>
          <p:nvPr/>
        </p:nvSpPr>
        <p:spPr>
          <a:xfrm>
            <a:off x="2255368" y="5715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avaliação, intervenção e monitoramento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4267048" y="4937760"/>
            <a:ext cx="3657600" cy="1371600"/>
          </a:xfrm>
          <a:prstGeom prst="rect">
            <a:avLst/>
          </a:prstGeom>
          <a:solidFill>
            <a:srgbClr val="064E47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4449928" y="50749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5600" dirty="0"/>
          </a:p>
        </p:txBody>
      </p:sp>
      <p:sp>
        <p:nvSpPr>
          <p:cNvPr id="40" name="Text 34"/>
          <p:cNvSpPr/>
          <p:nvPr/>
        </p:nvSpPr>
        <p:spPr>
          <a:xfrm>
            <a:off x="6050128" y="5212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retrabalho clínico</a:t>
            </a:r>
            <a:endParaRPr lang="en-US" sz="1600" dirty="0"/>
          </a:p>
        </p:txBody>
      </p:sp>
      <p:sp>
        <p:nvSpPr>
          <p:cNvPr id="41" name="Text 35"/>
          <p:cNvSpPr/>
          <p:nvPr/>
        </p:nvSpPr>
        <p:spPr>
          <a:xfrm>
            <a:off x="6050128" y="5715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dado nasce estruturado e segue o fluxo</a:t>
            </a:r>
            <a:endParaRPr lang="en-US" sz="1100" dirty="0"/>
          </a:p>
        </p:txBody>
      </p:sp>
      <p:sp>
        <p:nvSpPr>
          <p:cNvPr id="42" name="Shape 36"/>
          <p:cNvSpPr/>
          <p:nvPr/>
        </p:nvSpPr>
        <p:spPr>
          <a:xfrm>
            <a:off x="8061808" y="4937760"/>
            <a:ext cx="3657600" cy="1371600"/>
          </a:xfrm>
          <a:prstGeom prst="rect">
            <a:avLst/>
          </a:prstGeom>
          <a:solidFill>
            <a:srgbClr val="064E47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8244688" y="507492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360°</a:t>
            </a:r>
            <a:endParaRPr lang="en-US" sz="3800" dirty="0"/>
          </a:p>
        </p:txBody>
      </p:sp>
      <p:sp>
        <p:nvSpPr>
          <p:cNvPr id="44" name="Text 38"/>
          <p:cNvSpPr/>
          <p:nvPr/>
        </p:nvSpPr>
        <p:spPr>
          <a:xfrm>
            <a:off x="9844888" y="5212080"/>
            <a:ext cx="1691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visão integrada</a:t>
            </a:r>
            <a:endParaRPr lang="en-US" sz="1600" dirty="0"/>
          </a:p>
        </p:txBody>
      </p:sp>
      <p:sp>
        <p:nvSpPr>
          <p:cNvPr id="45" name="Text 39"/>
          <p:cNvSpPr/>
          <p:nvPr/>
        </p:nvSpPr>
        <p:spPr>
          <a:xfrm>
            <a:off x="9844888" y="5715000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criança, terapeuta, família e escola</a:t>
            </a:r>
            <a:endParaRPr lang="en-US" sz="1100" dirty="0"/>
          </a:p>
        </p:txBody>
      </p:sp>
      <p:sp>
        <p:nvSpPr>
          <p:cNvPr id="46" name="Text 40"/>
          <p:cNvSpPr/>
          <p:nvPr/>
        </p:nvSpPr>
        <p:spPr>
          <a:xfrm>
            <a:off x="640080" y="644652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BCM transforma avaliação clínica em plano mensurável — e intervenção em evidência.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FUNCIONANDO HOJE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módulos. Em produção. Auditáveis.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 estamos pedindo capital para construir uma ideia. Estamos pedindo capital para escalar um ativo.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36296" y="210312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1917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1313536" y="22677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PSRF-BCM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313536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probes · 7 domínios · output direto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43504" y="210312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526384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120744" y="22677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PSFA-BCM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120744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condições · hipótese funcional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50712" y="210312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33359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927952" y="22677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EPS-PCA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927952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trials · 5 canais · adaptação UX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8957920" y="2103120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14080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9735160" y="2267712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Clínico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735160" y="260604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motor genérico · metas · governança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536296" y="317296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19176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1313536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Digital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313536" y="36758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35 min · baselines · mastery · PDF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43504" y="317296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3526384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4120744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Minha Voz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120744" y="36758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PECS · voz PT-BR · FCT · clínico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150712" y="317296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0" name="Text 28"/>
          <p:cNvSpPr/>
          <p:nvPr/>
        </p:nvSpPr>
        <p:spPr>
          <a:xfrm>
            <a:off x="6333592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07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6927952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Rotinas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927952" y="36758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fichas · fading · vinculadas ao PEI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8957920" y="3172968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9140800" y="331012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08</a:t>
            </a:r>
            <a:endParaRPr lang="en-US" sz="2200" dirty="0"/>
          </a:p>
        </p:txBody>
      </p:sp>
      <p:sp>
        <p:nvSpPr>
          <p:cNvPr id="35" name="Text 33"/>
          <p:cNvSpPr/>
          <p:nvPr/>
        </p:nvSpPr>
        <p:spPr>
          <a:xfrm>
            <a:off x="9735160" y="3337560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Jogos</a:t>
            </a:r>
            <a:endParaRPr lang="en-US" sz="1300" dirty="0"/>
          </a:p>
        </p:txBody>
      </p:sp>
      <p:sp>
        <p:nvSpPr>
          <p:cNvPr id="36" name="Text 34"/>
          <p:cNvSpPr/>
          <p:nvPr/>
        </p:nvSpPr>
        <p:spPr>
          <a:xfrm>
            <a:off x="9735160" y="3675888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mundos · telemetria completa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536296" y="4242816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719176" y="4379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09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1313536" y="4407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360</a:t>
            </a:r>
            <a:endParaRPr lang="en-US" sz="1300" dirty="0"/>
          </a:p>
        </p:txBody>
      </p:sp>
      <p:sp>
        <p:nvSpPr>
          <p:cNvPr id="40" name="Text 38"/>
          <p:cNvSpPr/>
          <p:nvPr/>
        </p:nvSpPr>
        <p:spPr>
          <a:xfrm>
            <a:off x="1313536" y="47457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PSRF · PSFA · EPS · PEI · comportamento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43504" y="4242816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3526384" y="4379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4120744" y="4407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</a:t>
            </a:r>
            <a:endParaRPr lang="en-US" sz="1300" dirty="0"/>
          </a:p>
        </p:txBody>
      </p:sp>
      <p:sp>
        <p:nvSpPr>
          <p:cNvPr id="44" name="Text 42"/>
          <p:cNvSpPr/>
          <p:nvPr/>
        </p:nvSpPr>
        <p:spPr>
          <a:xfrm>
            <a:off x="4120744" y="47457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 · escolar · progresso · período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6150712" y="4242816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6333592" y="4379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11</a:t>
            </a:r>
            <a:endParaRPr lang="en-US" sz="2200" dirty="0"/>
          </a:p>
        </p:txBody>
      </p:sp>
      <p:sp>
        <p:nvSpPr>
          <p:cNvPr id="47" name="Text 45"/>
          <p:cNvSpPr/>
          <p:nvPr/>
        </p:nvSpPr>
        <p:spPr>
          <a:xfrm>
            <a:off x="6927952" y="4407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progressivo</a:t>
            </a:r>
            <a:endParaRPr lang="en-US" sz="1300" dirty="0"/>
          </a:p>
        </p:txBody>
      </p:sp>
      <p:sp>
        <p:nvSpPr>
          <p:cNvPr id="48" name="Text 46"/>
          <p:cNvSpPr/>
          <p:nvPr/>
        </p:nvSpPr>
        <p:spPr>
          <a:xfrm>
            <a:off x="6927952" y="47457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 · responsável · terapeuta · admin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8957920" y="4242816"/>
            <a:ext cx="269748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0" name="Text 48"/>
          <p:cNvSpPr/>
          <p:nvPr/>
        </p:nvSpPr>
        <p:spPr>
          <a:xfrm>
            <a:off x="9140800" y="4379976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</a:t>
            </a:r>
            <a:endParaRPr lang="en-US" sz="2200" dirty="0"/>
          </a:p>
        </p:txBody>
      </p:sp>
      <p:sp>
        <p:nvSpPr>
          <p:cNvPr id="51" name="Text 49"/>
          <p:cNvSpPr/>
          <p:nvPr/>
        </p:nvSpPr>
        <p:spPr>
          <a:xfrm>
            <a:off x="9735160" y="4407408"/>
            <a:ext cx="1783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SaaS</a:t>
            </a:r>
            <a:endParaRPr lang="en-US" sz="1300" dirty="0"/>
          </a:p>
        </p:txBody>
      </p:sp>
      <p:sp>
        <p:nvSpPr>
          <p:cNvPr id="52" name="Text 50"/>
          <p:cNvSpPr/>
          <p:nvPr/>
        </p:nvSpPr>
        <p:spPr>
          <a:xfrm>
            <a:off x="9735160" y="47457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Angular · NestJS · AWS · LGPD · Claude</a:t>
            </a:r>
            <a:endParaRPr lang="en-US" sz="1000" dirty="0"/>
          </a:p>
        </p:txBody>
      </p:sp>
      <p:sp>
        <p:nvSpPr>
          <p:cNvPr id="53" name="Shape 51"/>
          <p:cNvSpPr/>
          <p:nvPr/>
        </p:nvSpPr>
        <p:spPr>
          <a:xfrm>
            <a:off x="640080" y="5486400"/>
            <a:ext cx="10911535" cy="914400"/>
          </a:xfrm>
          <a:prstGeom prst="rect">
            <a:avLst/>
          </a:prstGeom>
          <a:solidFill>
            <a:srgbClr val="064E47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40080" y="5486400"/>
            <a:ext cx="10911535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R$150K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investidos pelo fundador  ·  </a:t>
            </a:r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anos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construção contínua  ·  </a:t>
            </a:r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AWS  </a:t>
            </a:r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aprovado</a:t>
            </a:r>
            <a:endParaRPr lang="en-US" sz="2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TESE TÉCNICA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verdadeiro ativo não é o PEI.
</a:t>
            </a:r>
            <a:pPr indent="0" marL="0">
              <a:buNone/>
            </a:pPr>
            <a:r>
              <a:rPr lang="en-US" sz="30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o kernel que aceita qualquer protocolo.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42316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423160"/>
            <a:ext cx="352044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INPUTS CONFIGURÁVEIS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868680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Protocolo do caso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68680" y="3429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Defaults BCM: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PSRF · PSFA · EPS-PCA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preferencial: 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OERA · VB-MAPP · ABLLS-R · PEP-3 · CARS-2 · Vineland-3 · SRS-2</a:t>
            </a:r>
            <a:endParaRPr lang="en-US" sz="1100" dirty="0"/>
          </a:p>
          <a:p>
            <a:pPr indent="0" marL="0">
              <a:buNone/>
            </a:pPr>
            <a:r>
              <a:rPr lang="en-US" sz="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Regra: </a:t>
            </a:r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protocolo ou combinação no mesmo caso clínico.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334256" y="2423160"/>
            <a:ext cx="3520440" cy="3108960"/>
          </a:xfrm>
          <a:prstGeom prst="rect">
            <a:avLst/>
          </a:prstGeom>
          <a:solidFill>
            <a:srgbClr val="0A1A3A"/>
          </a:solidFill>
          <a:ln w="2540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562856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KERNEL BCM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562856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motor clínico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562856" y="3429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Mapeia domínios e escalas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Processa dados de avaliação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Deriva metas clínicas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Aciona jogos, rotinas, CAA, FCT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Gera evidência contínua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028432" y="2423160"/>
            <a:ext cx="3520440" cy="31089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028432" y="2423160"/>
            <a:ext cx="3520440" cy="5486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57032" y="265176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8B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8257032" y="297180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Plano clínico digital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8257032" y="3429000"/>
            <a:ext cx="31089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PEI automático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SMART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Baselines auditáveis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Critérios de mastery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escola, ANS, família</a:t>
            </a:r>
            <a:endParaRPr lang="en-US" sz="1100" dirty="0"/>
          </a:p>
        </p:txBody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60520" y="3886200"/>
            <a:ext cx="164592" cy="164592"/>
          </a:xfrm>
          <a:prstGeom prst="rect">
            <a:avLst/>
          </a:prstGeom>
        </p:spPr>
      </p:pic>
      <p:pic>
        <p:nvPicPr>
          <p:cNvPr id="1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54696" y="3886200"/>
            <a:ext cx="164592" cy="164592"/>
          </a:xfrm>
          <a:prstGeom prst="rect">
            <a:avLst/>
          </a:prstGeom>
        </p:spPr>
      </p:pic>
      <p:sp>
        <p:nvSpPr>
          <p:cNvPr id="20" name="Shape 16"/>
          <p:cNvSpPr/>
          <p:nvPr/>
        </p:nvSpPr>
        <p:spPr>
          <a:xfrm>
            <a:off x="640080" y="5760720"/>
            <a:ext cx="10911535" cy="777240"/>
          </a:xfrm>
          <a:prstGeom prst="rect">
            <a:avLst/>
          </a:prstGeom>
          <a:solidFill>
            <a:srgbClr val="E8D9A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914400" y="5760720"/>
            <a:ext cx="1036289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8B70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o investidor: </a:t>
            </a:r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BCM não força ninguém a trocar de método. O kernel transforma qualquer protocolo — incluindo OERA — em PEI, jogos, rotinas e relatórios. Isso é o que escala.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E RECEITA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Quem paga, quem não paga e quanto.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família nunca paga. O profissional libera o acesso. Adoção social, custo recorrente B2B.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448" y="219456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09448" y="2194560"/>
            <a:ext cx="26060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2328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46608" y="2834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R$ 297</a:t>
            </a:r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/mês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792328" y="3703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10 crianças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98368" y="219456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98368" y="2194560"/>
            <a:ext cx="2606040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581248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CLÍNICA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35528" y="2834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R$ 997</a:t>
            </a:r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/mês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581248" y="3703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até 30 crianças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187288" y="219456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87288" y="2194560"/>
            <a:ext cx="2606040" cy="41148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70168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324448" y="2834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R$ 1.997</a:t>
            </a:r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/mês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6370168" y="3703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de 50 crianças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976208" y="2194560"/>
            <a:ext cx="2606040" cy="20116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976208" y="2194560"/>
            <a:ext cx="2606040" cy="41148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59088" y="22402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B2G ENTERPRISE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9113368" y="28346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pPr algn="ctr" indent="0" marL="0">
              <a:buNone/>
            </a:pP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9159088" y="3703320"/>
            <a:ext cx="2240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nº de crianças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40080" y="452628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TRAJETÓRIA CONSERVADORA AO BREAKEVEN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4892040"/>
          <a:ext cx="1091153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2194560"/>
                <a:gridCol w="1828800"/>
                <a:gridCol w="1828800"/>
                <a:gridCol w="3593592"/>
              </a:tblGrid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Período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Etapa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Tração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MRR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Leitura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1A3A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1-3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Piloto Gradual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pagantes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 clínica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4-6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Pós-milestone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pagantes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R$ 10.000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1ª prova de receita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7-9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Expansão Fortaleza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 pagantes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ativa Tranche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Mês 10-12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Expansão regional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120 pagantes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R$ 85.000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claro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 — Q1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Escala SaaS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pagantes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R$ 175.000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mix completo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Ano 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Breakeven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350+ pagantes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F766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R$ 245.000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sustentável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PROPOSTA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 do BCM </a:t>
            </a:r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por R$ 75.000.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E8D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Aporte em 3 tranches. Gatilhos objetivos. Risco protegido a cada etapa.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26568" y="2286000"/>
            <a:ext cx="3657600" cy="2377440"/>
          </a:xfrm>
          <a:prstGeom prst="rect">
            <a:avLst/>
          </a:prstGeom>
          <a:solidFill>
            <a:srgbClr val="152648"/>
          </a:solidFill>
          <a:ln w="2540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700888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00888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Assinatura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00888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R$ 30K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700888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assinado · acesso liberado · viagem inicial · onboarding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67048" y="2286000"/>
            <a:ext cx="3657600" cy="2377440"/>
          </a:xfrm>
          <a:prstGeom prst="rect">
            <a:avLst/>
          </a:prstGeom>
          <a:solidFill>
            <a:srgbClr val="152648"/>
          </a:solidFill>
          <a:ln w="25400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41368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41368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Prova de mercado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541368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R$ 25K</a:t>
            </a:r>
            <a:endParaRPr lang="en-US" sz="4800" dirty="0"/>
          </a:p>
        </p:txBody>
      </p:sp>
      <p:sp>
        <p:nvSpPr>
          <p:cNvPr id="14" name="Text 12"/>
          <p:cNvSpPr/>
          <p:nvPr/>
        </p:nvSpPr>
        <p:spPr>
          <a:xfrm>
            <a:off x="4541368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Somente com 50 usuários pagantes ativos na plataforma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107528" y="2286000"/>
            <a:ext cx="3657600" cy="2377440"/>
          </a:xfrm>
          <a:prstGeom prst="rect">
            <a:avLst/>
          </a:prstGeom>
          <a:solidFill>
            <a:srgbClr val="152648"/>
          </a:solidFill>
          <a:ln w="2540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8381848" y="25146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381848" y="28346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381848" y="3246120"/>
            <a:ext cx="3108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R$ 20K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8381848" y="406908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Publicação científica conjunta OU 100 usuários pagantes ativos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937760"/>
            <a:ext cx="5440680" cy="1691640"/>
          </a:xfrm>
          <a:prstGeom prst="rect">
            <a:avLst/>
          </a:prstGeom>
          <a:solidFill>
            <a:srgbClr val="15264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GRADUAL RECEBE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5440680"/>
            <a:ext cx="5029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de equity no BCM (LaVita Code)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meses gratuitos · clínica completa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30% de desconto permanente no Plano Clínica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de desconto em desenvolvimento de software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Coautoria científica · OERA como protocolo nativo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263640" y="4937760"/>
            <a:ext cx="5285232" cy="1691640"/>
          </a:xfrm>
          <a:prstGeom prst="rect">
            <a:avLst/>
          </a:prstGeom>
          <a:solidFill>
            <a:srgbClr val="152648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92240" y="51206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PROTEGE O INVESTIDOR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492240" y="5440680"/>
            <a:ext cx="49377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2 não é por data — é por receita ativa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3 exige publicação OU escala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gratuito exige mín. 10 crianças em 60 dias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trimestrais de uso, receita e roadmap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técnico-clínico em decisões de produto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ANTES DA ESCALA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cheque </a:t>
            </a:r>
            <a:pPr indent="0" marL="0">
              <a:buNone/>
            </a:pPr>
            <a:r>
              <a:rPr lang="en-US" sz="3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 paga sozinho.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10972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do BCM crescer, antes de qualquer assinante, antes da Tranche 2 — só com o desconto em software, o investimento já paga a si mesmo.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548640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331720"/>
            <a:ext cx="54864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4231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CONSERVADOR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97180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Softhouse atual = R$ 8.000 / mês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mensal hoje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114800" y="3611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R$ 8.000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14400" y="4114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LaVita 25%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0" y="4114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R$ 2.000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914400" y="4617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anual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114800" y="4617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R$ 24.000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914400" y="5212080"/>
            <a:ext cx="4937760" cy="36576"/>
          </a:xfrm>
          <a:prstGeom prst="rect">
            <a:avLst/>
          </a:prstGeom>
          <a:solidFill>
            <a:srgbClr val="E8E2D5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5349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DO INVESTIMENTO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914400" y="5623560"/>
            <a:ext cx="4937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3,1 anos</a:t>
            </a:r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só com economia em software</a:t>
            </a:r>
            <a:endParaRPr lang="en-US" sz="3800" dirty="0"/>
          </a:p>
        </p:txBody>
      </p:sp>
      <p:sp>
        <p:nvSpPr>
          <p:cNvPr id="18" name="Shape 16"/>
          <p:cNvSpPr/>
          <p:nvPr/>
        </p:nvSpPr>
        <p:spPr>
          <a:xfrm>
            <a:off x="6263640" y="2331720"/>
            <a:ext cx="5285232" cy="4023360"/>
          </a:xfrm>
          <a:prstGeom prst="rect">
            <a:avLst/>
          </a:prstGeom>
          <a:solidFill>
            <a:srgbClr val="0A1A3A"/>
          </a:solidFill>
          <a:ln w="2540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2331720"/>
            <a:ext cx="5285232" cy="457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37960" y="242316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CENÁRIO REALISTA  ·  GRADUAL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537960" y="2971800"/>
            <a:ext cx="47365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Softhouse atual = R$ 12.000 / mês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37960" y="361188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mensal hoje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555480" y="361188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R$ 12.000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6537960" y="411480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LaVita 25%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9555480" y="411480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R$ 3.000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6537960" y="4617720"/>
            <a:ext cx="3017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anual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9555480" y="461772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R$ 36.000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537960" y="5212080"/>
            <a:ext cx="4736592" cy="36576"/>
          </a:xfrm>
          <a:prstGeom prst="rect">
            <a:avLst/>
          </a:prstGeom>
          <a:solidFill>
            <a:srgbClr val="8B7028"/>
          </a:solidFill>
          <a:ln w="12700">
            <a:solidFill>
              <a:srgbClr val="8B702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37960" y="5349240"/>
            <a:ext cx="4736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PAYBACK DO INVESTIMENTO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537960" y="5623560"/>
            <a:ext cx="47365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2,1 anos</a:t>
            </a:r>
            <a:pPr indent="0" marL="0">
              <a:buNone/>
            </a:pPr>
            <a:r>
              <a:rPr lang="en-US" sz="1400" i="1" dirty="0">
                <a:solidFill>
                  <a:srgbClr val="E8D9A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 +  os 5% de equity ficam de bônus</a:t>
            </a:r>
            <a:endParaRPr lang="en-US" sz="3800" dirty="0"/>
          </a:p>
        </p:txBody>
      </p:sp>
      <p:sp>
        <p:nvSpPr>
          <p:cNvPr id="31" name="Text 29"/>
          <p:cNvSpPr/>
          <p:nvPr/>
        </p:nvSpPr>
        <p:spPr>
          <a:xfrm>
            <a:off x="640080" y="6492240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Tradução comercial: o equity de 5% deixa de ser "o retorno" e passa a ser "o bônus". O retorno já está no contrato de serviços.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RETORNO TOTAL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Quatro camadas de retorno empilhadas.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camada existe independente das outras. A composição é o que torna a proposta assimétrica.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1091153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9144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240280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554480" y="22402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· CERTO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54480" y="2468880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em desenvolvimento de software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554480" y="276148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 de desconto enquanto o Gradual mantiver participação. Em 3 anos típicos, R$72K-R$108K em economia direta. Já paga o cheque.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8686800" y="2240280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R$ 24K-36K /ano</a:t>
            </a:r>
            <a:endParaRPr lang="en-US" sz="2200" dirty="0"/>
          </a:p>
        </p:txBody>
      </p:sp>
      <p:sp>
        <p:nvSpPr>
          <p:cNvPr id="12" name="Shape 10"/>
          <p:cNvSpPr/>
          <p:nvPr/>
        </p:nvSpPr>
        <p:spPr>
          <a:xfrm>
            <a:off x="640080" y="3218688"/>
            <a:ext cx="1091153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40080" y="3218688"/>
            <a:ext cx="91440" cy="1005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355848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1554480" y="33558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OPERACIONAL · CERTO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554480" y="3584448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permanente Plano Clínica + 6 meses grátis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554480" y="387705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completo da clínica por 6 meses (R$ 5.982) + 30% off vitalício (R$ 35.892 em 10 anos).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86800" y="3355848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R$ 41.874+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640080" y="4334256"/>
            <a:ext cx="1091153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334256"/>
            <a:ext cx="91440" cy="10058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8680" y="4471416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2" name="Text 20"/>
          <p:cNvSpPr/>
          <p:nvPr/>
        </p:nvSpPr>
        <p:spPr>
          <a:xfrm>
            <a:off x="1554480" y="447141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ESTRATÉGICO · ALTO VALOR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554480" y="4700016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Posição estratégica · OERA nativo · coautoria científica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54480" y="499262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Primeiro catálogo protocolar parceiro · publicações conjuntas · taxonomia clínica do mercado.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8686800" y="4471416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Estratégico</a:t>
            </a:r>
            <a:endParaRPr lang="en-US" sz="2200" dirty="0"/>
          </a:p>
        </p:txBody>
      </p:sp>
      <p:sp>
        <p:nvSpPr>
          <p:cNvPr id="26" name="Shape 24"/>
          <p:cNvSpPr/>
          <p:nvPr/>
        </p:nvSpPr>
        <p:spPr>
          <a:xfrm>
            <a:off x="640080" y="5449824"/>
            <a:ext cx="10911535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0080" y="5449824"/>
            <a:ext cx="91440" cy="10058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68680" y="5586984"/>
            <a:ext cx="640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3200" dirty="0"/>
          </a:p>
        </p:txBody>
      </p:sp>
      <p:sp>
        <p:nvSpPr>
          <p:cNvPr id="29" name="Text 27"/>
          <p:cNvSpPr/>
          <p:nvPr/>
        </p:nvSpPr>
        <p:spPr>
          <a:xfrm>
            <a:off x="1554480" y="558698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5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EQUITY · UPSIDE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554480" y="5815584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do BCM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1554480" y="6108192"/>
            <a:ext cx="6858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Hoje: R$ 75K · com 350 assinantes: R$ 125-175K · com 1.000: R$ 375-500K · com presença nacional: R$ 1-2M.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8686800" y="5586984"/>
            <a:ext cx="2743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10x – 25x</a:t>
            </a:r>
            <a:endParaRPr lang="en-US" sz="2200" dirty="0"/>
          </a:p>
        </p:txBody>
      </p:sp>
      <p:sp>
        <p:nvSpPr>
          <p:cNvPr id="33" name="Shape 31"/>
          <p:cNvSpPr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6446520"/>
            <a:ext cx="109115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1 e 2 sozinhas devolvem o cheque. </a:t>
            </a:r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Camadas 3 e 4 são puro upside.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ENCAIXE ESTRATÉGICO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Cada lado traz o que o outro leva anos para construir.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5486400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28800"/>
            <a:ext cx="5486400" cy="45720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9202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GRUPO GRADUAL TRAZ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23 anos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06040" y="24688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operação clínica ABA contínua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2.000+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606040" y="297180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crianças atendidas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474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100/ano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606040" y="347472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ATs formados pela equipe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86868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HC-USP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606040" y="397764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parceria institucional ativa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68680" y="4480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Dra. Leila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2606040" y="448056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autoridade científica e rede acadêmica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4983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76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OERA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2606040" y="4983480"/>
            <a:ext cx="3383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protocolo proprietário pronto para escalar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263640" y="1828800"/>
            <a:ext cx="5285232" cy="38404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263640" y="1828800"/>
            <a:ext cx="5285232" cy="457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9202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BCM ENTREGA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492240" y="24688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anos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229600" y="24688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construção · R$150K investidos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492240" y="297180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12 módulos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8229600" y="297180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produção · não em roadmap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492240" y="34747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Kernel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8229600" y="347472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aceita qualquer protocolo clínico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492240" y="397764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35 min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8229600" y="39776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gerar PEI defensável completo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492240" y="448056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32 jogos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8229600" y="44805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 telemetria clínica integrada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6492240" y="498348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 · Claude</a:t>
            </a:r>
            <a:endParaRPr lang="en-US" sz="1600" dirty="0"/>
          </a:p>
        </p:txBody>
      </p:sp>
      <p:sp>
        <p:nvSpPr>
          <p:cNvPr id="33" name="Text 31"/>
          <p:cNvSpPr/>
          <p:nvPr/>
        </p:nvSpPr>
        <p:spPr>
          <a:xfrm>
            <a:off x="8229600" y="498348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moderna · LGPD · escalável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0080" y="5943600"/>
            <a:ext cx="10911535" cy="777240"/>
          </a:xfrm>
          <a:prstGeom prst="rect">
            <a:avLst/>
          </a:prstGeom>
          <a:solidFill>
            <a:srgbClr val="0A1A3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0080" y="5943600"/>
            <a:ext cx="10911535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Juntos, Gradual e BCM chegam onde nenhum dos dois chega sozinho — </a:t>
            </a:r>
            <a:pPr algn="ctr" indent="0" marL="0">
              <a:buNone/>
            </a:pPr>
            <a:r>
              <a:rPr lang="en-US" sz="14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uma referência clínica nacional sustentada por software auditável.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CONSTRUIU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Autoridade técnica + autoridade emocional.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time enxuto, com motivação real e produto já construído.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548640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40080" y="2103120"/>
            <a:ext cx="91440" cy="3291840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23774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 ·  CTO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68680" y="2697480"/>
            <a:ext cx="5029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Rafael Dias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868680" y="329184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Engenheiro de Software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50292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Autista.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 anos em Angular, NestJS e plataformas SaaS clínicas. Investiu R$150 mil do próprio bolso para construir o BCM ao longo de 3 anos. O produto nasceu de vivência pessoal e foi sustentado por arquitetura SaaS sênior.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263640" y="2103120"/>
            <a:ext cx="5285232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263640" y="2103120"/>
            <a:ext cx="91440" cy="329184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492240" y="23774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CO-FUNDADORA  ·  HEAD DE PRODUTO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6492240" y="2697480"/>
            <a:ext cx="4937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Laura Dias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6492240" y="32918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Psicologia · Acompanhante Terapêutica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92240" y="3794760"/>
            <a:ext cx="49377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origem clínica e humana do projeto. </a:t>
            </a:r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Pesquisadora em TEA e tecnologias assistivas. Garante que cada decisão de produto tenha lastro clínico real, e não apenas elegância de engenharia. Define a régua de aceitação dos módulos terapêuticos.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09448" y="5623560"/>
            <a:ext cx="2606040" cy="914400"/>
          </a:xfrm>
          <a:prstGeom prst="rect">
            <a:avLst/>
          </a:prstGeom>
          <a:solidFill>
            <a:srgbClr val="0A1A3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328" y="57332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R$ 150K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792328" y="6172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 próprio investido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98368" y="5623560"/>
            <a:ext cx="2606040" cy="914400"/>
          </a:xfrm>
          <a:prstGeom prst="rect">
            <a:avLst/>
          </a:prstGeom>
          <a:solidFill>
            <a:srgbClr val="0A1A3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81248" y="57332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 anos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3581248" y="6172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construção contínua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6187288" y="5623560"/>
            <a:ext cx="2606040" cy="914400"/>
          </a:xfrm>
          <a:prstGeom prst="rect">
            <a:avLst/>
          </a:prstGeom>
          <a:solidFill>
            <a:srgbClr val="0A1A3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370168" y="57332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AWS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6370168" y="6172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Activate aprovado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8976208" y="5623560"/>
            <a:ext cx="2606040" cy="914400"/>
          </a:xfrm>
          <a:prstGeom prst="rect">
            <a:avLst/>
          </a:prstGeom>
          <a:solidFill>
            <a:srgbClr val="0A1A3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9159088" y="5733288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59088" y="617220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 aplicada ao kernel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GOVERNANÇA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Voz real no produto, sem bloquear a operação.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54864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 TABLE  ·  BCM (LaVita Code)</a:t>
            </a:r>
            <a:endParaRPr lang="en-US" sz="10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777240" y="2377440"/>
          <a:ext cx="1691640" cy="16002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/>
          <p:nvPr/>
        </p:nvSpPr>
        <p:spPr>
          <a:xfrm>
            <a:off x="1005840" y="2834640"/>
            <a:ext cx="1234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2200" dirty="0"/>
          </a:p>
          <a:p>
            <a:pPr algn="ctr" indent="0" marL="0">
              <a:buNone/>
            </a:pPr>
            <a:r>
              <a:rPr lang="en-US" sz="1000" i="1" dirty="0">
                <a:solidFill>
                  <a:srgbClr val="475569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Gradual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2697480" y="23774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FUNDADORES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2697480" y="2651760"/>
            <a:ext cx="146304" cy="146304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953512" y="25877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73%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 Dias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CTO, produto e tecnologia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2697480" y="2971800"/>
            <a:ext cx="146304" cy="14630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2953512" y="290779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22%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Laura Dias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cofundadora, lastro clínico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2697480" y="3291840"/>
            <a:ext cx="31089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INVESTIDOR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697480" y="3566160"/>
            <a:ext cx="146304" cy="146304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953512" y="350215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Grupo Gradual</a:t>
            </a:r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entrada via cheque de R$ 75K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6263640" y="1874520"/>
            <a:ext cx="5285232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92240" y="2057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DIREITOS DO INVESTIDOR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6492240" y="2377440"/>
            <a:ext cx="493776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trimestral de uso, receita e roadmap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Voto técnico-clínico em decisões de produto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Coautoria em publicações científicas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Pro-rata em rodada futura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Priorização do catálogo Gradual no kernel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640080" y="4251960"/>
            <a:ext cx="5486400" cy="2194560"/>
          </a:xfrm>
          <a:prstGeom prst="rect">
            <a:avLst/>
          </a:prstGeom>
          <a:solidFill>
            <a:srgbClr val="FAF7F0"/>
          </a:solidFill>
          <a:ln w="12700">
            <a:solidFill>
              <a:srgbClr val="E8E2D5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868680" y="443484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B91C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FRONTEIRAS — O QUE NÃO ESTÁ INCLUÍDO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868680" y="4754880"/>
            <a:ext cx="50292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ao código-fonte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Veto em parcerias comerciais externas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Obrigação de aporte adicional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Interferência em execução técnica diária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6263640" y="4251960"/>
            <a:ext cx="5285232" cy="2194560"/>
          </a:xfrm>
          <a:prstGeom prst="rect">
            <a:avLst/>
          </a:prstGeom>
          <a:solidFill>
            <a:srgbClr val="0A1A3A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492240" y="4434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6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PAPEL DA DRA. LEILA BAGAIOLO</a:t>
            </a:r>
            <a:endParaRPr lang="en-US" sz="1000" dirty="0"/>
          </a:p>
        </p:txBody>
      </p:sp>
      <p:sp>
        <p:nvSpPr>
          <p:cNvPr id="24" name="Text 21"/>
          <p:cNvSpPr/>
          <p:nvPr/>
        </p:nvSpPr>
        <p:spPr>
          <a:xfrm>
            <a:off x="6492240" y="4754880"/>
            <a:ext cx="49377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dos protocolos embarcados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Integração OERA + lista preferencial em até 6 meses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Coautoria científica conjunta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Abertura de rede acadêmica e institucional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OBJEÇÕES TRATADAS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 dúvida razoável já foi respondida na estrutura.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0868" y="1783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15188" y="2011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 se o produto não vender?”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815188" y="2651760"/>
            <a:ext cx="6400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15188" y="2743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Tranche 2 só é paga com 50 usuários pagantes ativos. Sem venda, não há segundo aporte.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89908" y="1783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64228" y="2011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 se a clínica não usar?”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564228" y="2651760"/>
            <a:ext cx="6400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64228" y="2743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Acesso gratuito exige mínimo de 10 crianças em 60 dias. Sem uso, não há validação real para ninguém.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038948" y="178308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13268" y="201168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 se virar só mais um software?”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8313268" y="2651760"/>
            <a:ext cx="6400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13268" y="274320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Diferencial é o kernel + OERA nativo + telemetria + relatórios defensáveis. Não é cadastro nem prontuário.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0868" y="37490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5188" y="3977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 se 5% for participação pequena?”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815188" y="4617720"/>
            <a:ext cx="6400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5188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5% agora é posição de investidor-âncora — antes da rodada, antes da escala. O valor está no timing, não no tamanho.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289908" y="37490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64228" y="3977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 se houver conflito técnico?”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64228" y="4617720"/>
            <a:ext cx="6400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64228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tem voto em decisões com impacto clínico. Rafael mantém a responsabilidade técnica e arquitetura.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8038948" y="3749040"/>
            <a:ext cx="361188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13268" y="3977640"/>
            <a:ext cx="3154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“E se o equity demorar a maturar?”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8313268" y="4617720"/>
            <a:ext cx="640080" cy="36576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313268" y="4709160"/>
            <a:ext cx="31546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Economia de softhouse + desconto Plano Clínica criam retorno operacional imediato, independente da escala.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" y="6080760"/>
            <a:ext cx="10911535" cy="502920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6080760"/>
            <a:ext cx="1091153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estrutura inteira foi desenhada para dizer </a:t>
            </a:r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 coisa: </a:t>
            </a:r>
            <a:pPr algn="ctr" indent="0" marL="0">
              <a:buNone/>
            </a:pPr>
            <a:r>
              <a:rPr lang="en-US" sz="14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vocês pagam pela prova, não pela promessa.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QUADRO DE DECISÃO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decisão não é </a:t>
            </a:r>
            <a:pPr indent="0" marL="0">
              <a:buNone/>
            </a:pPr>
            <a:r>
              <a:rPr lang="en-US" sz="3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investir.
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É </a:t>
            </a:r>
            <a:pPr indent="0" marL="0">
              <a:buNone/>
            </a:pPr>
            <a:r>
              <a:rPr lang="en-US" sz="3600" b="1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posição</a:t>
            </a:r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ocupar.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640080" y="2606040"/>
            <a:ext cx="5440680" cy="3200400"/>
          </a:xfrm>
          <a:prstGeom prst="rect">
            <a:avLst/>
          </a:prstGeom>
          <a:solidFill>
            <a:srgbClr val="152648"/>
          </a:solidFill>
          <a:ln w="25400">
            <a:solidFill>
              <a:srgbClr val="C9A961"/>
            </a:solidFill>
            <a:prstDash val="solid"/>
          </a:ln>
          <a:effectLst>
            <a:outerShdw sx="100000" sy="100000" kx="0" ky="0" algn="bl" rotWithShape="0" blurRad="127000" dist="38100" dir="54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606040"/>
            <a:ext cx="5440680" cy="45720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269748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A1A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GRADUAL ENTRA AGORA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50292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 primeiro investidor clínico do BCM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Molda o produto antes da escala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OERA passa a ser o primeiro protocolo nativo embarcado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Garante coautoria, dados e participação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Ocupa a narrativa científica do mercado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Captura economia operacional imediata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63640" y="2606040"/>
            <a:ext cx="5285232" cy="3200400"/>
          </a:xfrm>
          <a:prstGeom prst="rect">
            <a:avLst/>
          </a:prstGeom>
          <a:solidFill>
            <a:srgbClr val="152648"/>
          </a:solidFill>
          <a:ln w="25400">
            <a:solidFill>
              <a:srgbClr val="B91C3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2606040"/>
            <a:ext cx="5285232" cy="457200"/>
          </a:xfrm>
          <a:prstGeom prst="rect">
            <a:avLst/>
          </a:prstGeom>
          <a:solidFill>
            <a:srgbClr val="B91C3C"/>
          </a:solidFill>
          <a:ln w="12700">
            <a:solidFill>
              <a:srgbClr val="B91C3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92240" y="26974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O GRADUAL ESPERA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92240" y="3246120"/>
            <a:ext cx="49377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grupo clínico ocupa a posição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protocolo vira o primeiro nativo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Entrada futura é como cliente, não como sócio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Janela de validação inicial fecha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Poder de moldar o produto diminui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b="1" dirty="0">
                <a:solidFill>
                  <a:srgbClr val="F2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 de softhouse atual continua cheio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612648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 custo da espera não é apenas perder o deal — é perder a posição.</a:t>
            </a:r>
            <a:endParaRPr lang="en-US" sz="18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RESUMIDOS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Pronto para contrato.</a:t>
            </a:r>
            <a:endParaRPr lang="en-US" sz="30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691640"/>
          <a:ext cx="1091153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7802575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Produto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Plataforma clínica ABA digital — funcional hoje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Investimento total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R$ 75.000 em 3 tranches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Equity oferecido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5% do BCM (LaVita Code)  ·  Rafael 73% / Laura 22% / Gradual 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 1 — Assinatura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R$ 30.000  ·  contrato + onboarding + viagem inicial + início OERA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 2 — Mercado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R$ 25.000  ·  apenas com 50 usuários pagantes ativos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Tranche 3 — Resultado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R$ 20.000  ·  publicação conjunta OU 100 pagantes ativos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Acesso Gradual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meses gratuitos para toda a clínica  ·  uso mínimo de 10 crianças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Desconto Plano Clínica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 permanente enquanto o Gradual mantiver participação no BCM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Serviços LaVita Code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25% abaixo do mercado para desenvolvimento de software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Protocolos Gradual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OERA prioritário + lista preferencial como catálogo nativo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Governança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Voto técnico-clínico  ·  relatórios trimestrais  ·  coautoria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Validade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47556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dias  ·  até 22 de maio de 2026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2D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7F0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6355080"/>
            <a:ext cx="10911535" cy="365760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40080" y="635508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Termos finais formalizados em contrato com assessoria jurídica de ambas as partes.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7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029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PLANO DE EXECUÇÃO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40080" y="822960"/>
            <a:ext cx="10972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 contrato ao primeiro usuário em 30 dias.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874520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874520"/>
            <a:ext cx="1463040" cy="777240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874520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286000" y="196596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Assinatura e onboarding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2286000" y="2286000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Contrato assinado · tranche 1 liberada · viagem Rafael + Laura para SP · alinhamento presencial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40080" y="2761488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0080" y="2761488"/>
            <a:ext cx="1463040" cy="777240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0080" y="2761488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SEMANA 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86000" y="28529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Integração inicial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286000" y="3172968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 dos jogos Gradual · mapeamento OERA · acessos da clínica · primeiros terapeutas preparados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40080" y="3648456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648456"/>
            <a:ext cx="1463040" cy="777240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648456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1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2286000" y="37398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Primeiros usuários reais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2286000" y="4059936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Mínimo de 10 crianças cadastradas · primeiros dados clínicos · feedback direto · iteração rápida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4535424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" y="4535424"/>
            <a:ext cx="1463040" cy="777240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0080" y="4535424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3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2286000" y="462686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Gatilho da Tranche 2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2286000" y="4946904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uso · expansão comercial inicial · tranche 2 dispara apenas com 50 pagantes ativos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0080" y="5422392"/>
            <a:ext cx="10911535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2D5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40080" y="5422392"/>
            <a:ext cx="1463040" cy="777240"/>
          </a:xfrm>
          <a:prstGeom prst="rect">
            <a:avLst/>
          </a:prstGeom>
          <a:solidFill>
            <a:srgbClr val="0A1A3A"/>
          </a:solidFill>
          <a:ln w="12700">
            <a:solidFill>
              <a:srgbClr val="0A1A3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0080" y="5422392"/>
            <a:ext cx="14630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4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MÊS 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2286000" y="551383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OERA nativo + escala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2286000" y="5833872"/>
            <a:ext cx="908273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Catálogo OERA publicado · publicação conjunta ou 100 pagantes · tranche 3 · expansão nacional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40080" y="64008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0A1A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Primeira meta concreta: o BCM rodando no Gradual em até 30 dias.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A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C9A961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486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800" kern="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640080" y="1051560"/>
            <a:ext cx="1097280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Vocês têm 23 anos
</a:t>
            </a:r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construindo o que o BCM precisa.
</a:t>
            </a:r>
            <a:pPr indent="0" marL="0">
              <a:buNone/>
            </a:pPr>
            <a:r>
              <a:rPr lang="en-US" sz="4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Eu tenho a plataforma
</a:t>
            </a:r>
            <a:pPr indent="0" marL="0">
              <a:buNone/>
            </a:pPr>
            <a:r>
              <a:rPr lang="en-US" sz="4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 leva 3 anos para construir.</a:t>
            </a:r>
            <a:endParaRPr lang="en-US" sz="4200" dirty="0"/>
          </a:p>
        </p:txBody>
      </p:sp>
      <p:sp>
        <p:nvSpPr>
          <p:cNvPr id="6" name="Shape 4"/>
          <p:cNvSpPr/>
          <p:nvPr/>
        </p:nvSpPr>
        <p:spPr>
          <a:xfrm>
            <a:off x="609448" y="4434840"/>
            <a:ext cx="2606040" cy="914400"/>
          </a:xfrm>
          <a:prstGeom prst="rect">
            <a:avLst/>
          </a:prstGeom>
          <a:solidFill>
            <a:srgbClr val="15264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2328" y="4572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1249528" y="4572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Assinar carta de intenção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98368" y="4434840"/>
            <a:ext cx="2606040" cy="914400"/>
          </a:xfrm>
          <a:prstGeom prst="rect">
            <a:avLst/>
          </a:prstGeom>
          <a:solidFill>
            <a:srgbClr val="15264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81248" y="4572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038448" y="4572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Formalizar contrato com assessoria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187288" y="4434840"/>
            <a:ext cx="2606040" cy="914400"/>
          </a:xfrm>
          <a:prstGeom prst="rect">
            <a:avLst/>
          </a:prstGeom>
          <a:solidFill>
            <a:srgbClr val="15264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70168" y="4572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14" name="Text 12"/>
          <p:cNvSpPr/>
          <p:nvPr/>
        </p:nvSpPr>
        <p:spPr>
          <a:xfrm>
            <a:off x="6827368" y="4572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Liberar Tranche 1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76208" y="4434840"/>
            <a:ext cx="2606040" cy="914400"/>
          </a:xfrm>
          <a:prstGeom prst="rect">
            <a:avLst/>
          </a:prstGeom>
          <a:solidFill>
            <a:srgbClr val="152648"/>
          </a:solidFill>
          <a:ln w="12700">
            <a:solidFill>
              <a:srgbClr val="C9A96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59088" y="4572000"/>
            <a:ext cx="457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9616288" y="45720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Iniciar SP em 7 dias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40080" y="5715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9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Rafael Dias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0080" y="60807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E8D9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Fundador · BCM (LaVita Code)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7894015" y="5715000"/>
            <a:ext cx="36576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rafaeldias@lavitacode.com.br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+55 85 9 9444-8858</a:t>
            </a:r>
            <a:endParaRPr lang="en-US" sz="1200" dirty="0"/>
          </a:p>
          <a:p>
            <a:pPr algn="r" indent="0" marL="0">
              <a:buNone/>
            </a:pPr>
            <a:r>
              <a:rPr lang="en-US" sz="1200" dirty="0">
                <a:solidFill>
                  <a:srgbClr val="C9A9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lavitacode.com.br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0080" y="6446520"/>
            <a:ext cx="1091153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Documento confidencial — elaborado exclusivamente para o Grupo Gradual.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BCM × Grupo Gradual — Proposta de Investimento</dc:title>
  <dc:subject>PptxGenJS Presentation</dc:subject>
  <dc:creator>Rafael Dias — BCM</dc:creator>
  <cp:lastModifiedBy>Rafael Dias — BCM</cp:lastModifiedBy>
  <cp:revision>1</cp:revision>
  <dcterms:created xsi:type="dcterms:W3CDTF">2026-05-09T12:54:31Z</dcterms:created>
  <dcterms:modified xsi:type="dcterms:W3CDTF">2026-05-09T12:54:31Z</dcterms:modified>
</cp:coreProperties>
</file>